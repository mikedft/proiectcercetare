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ExtraBold" panose="020B0604020202020204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706f5400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b706f5400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11722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TDR-W Framework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68997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Prioritizing technical </a:t>
            </a:r>
            <a:r>
              <a:rPr lang="en-US" sz="21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ebt based on development </a:t>
            </a:r>
            <a:r>
              <a:rPr lang="en-US" sz="21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ain and static </a:t>
            </a:r>
            <a:r>
              <a:rPr lang="en-US" sz="21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osts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19587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Ban Mihai-Constantin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0977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Static metrics </a:t>
            </a:r>
            <a:r>
              <a:rPr lang="en-US" sz="2400" dirty="0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lang="en-US" sz="2400" b="0" i="0" u="none" strike="noStrike" cap="none" dirty="0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 misleading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571750"/>
            <a:ext cx="5238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Traditional tools like SonarQube measure messiness (Cognitive Complexity, Line Counts), but research shows a weak link between these metrics and real delivery delays.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98145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Flaw: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These tools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combine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 to fix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the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the problem.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47725" y="4955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87680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Expensive to Fix</a:t>
            </a:r>
            <a:r>
              <a:rPr lang="en-US" sz="15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!=</a:t>
            </a:r>
            <a:r>
              <a:rPr lang="en-US" sz="1500" b="0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Urgent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47725" y="5412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53340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Cost + Zero Traffic =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Benign Debt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Problem: Cost vs. Pain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5">
            <a:alphaModFix/>
          </a:blip>
          <a:srcRect t="12484" b="12484"/>
          <a:stretch/>
        </p:blipFill>
        <p:spPr>
          <a:xfrm>
            <a:off x="6462288" y="2009775"/>
            <a:ext cx="5077674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523875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24050"/>
            <a:ext cx="523875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3145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62025" y="296227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Principal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3524250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Effort to fix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static, one-time cost to refactor the code. Measured in hours or complexity points.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962025" y="4819650"/>
            <a:ext cx="445770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50292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"How hard is it to clean this up?"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3145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772275" y="296227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Interest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6772275" y="3524250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Development pain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772275" y="40195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ongoing cost of doing nothing. Friction in daily work and bugs affecting customers.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6772275" y="4819650"/>
            <a:ext cx="44577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50292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"How much is this hurting us right now?"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Conceptual Framework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3875" y="2641850"/>
            <a:ext cx="8844100" cy="8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13671"/>
            <a:ext cx="5381625" cy="153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613671"/>
            <a:ext cx="5381625" cy="1536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2286000" y="1651248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Technical Debt Risk (TDR) is calculated by multiplying the static effort by the dynamic pain score.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2543212" y="5019650"/>
            <a:ext cx="1438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wcommits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2209800" y="5601146"/>
            <a:ext cx="21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Weight for Friction (e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0.5)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34600" y="5019650"/>
            <a:ext cx="119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wbugs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7734300" y="5601146"/>
            <a:ext cx="23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Weight for Unreliability (e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x: 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1.0)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TDR-W Formula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838250" y="2878450"/>
            <a:ext cx="8606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TDR =  (Effort) × (wcommits * Recent Commits + wbugs * Recent Bugs)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3980"/>
            <a:ext cx="5381625" cy="4112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843980"/>
            <a:ext cx="5381625" cy="4112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33687" y="213925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2682712" y="3225105"/>
            <a:ext cx="115905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Friction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024062" y="3977580"/>
            <a:ext cx="2476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Measured by Recent Commits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4594770"/>
            <a:ext cx="47910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Developers waste ~23% of time working around debt. High rate of change in a complex file indicates a 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otspot where time is actively being lost.</a:t>
            </a:r>
            <a:endParaRPr dirty="0"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01062" y="213925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016124" y="3225100"/>
            <a:ext cx="199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Unreliability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843837" y="3977580"/>
            <a:ext cx="2171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472B6"/>
                </a:solidFill>
                <a:latin typeface="Inter"/>
                <a:ea typeface="Inter"/>
                <a:cs typeface="Inter"/>
                <a:sym typeface="Inter"/>
              </a:rPr>
              <a:t>Measured by Recent Bugs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34150" y="4594770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Architecture issues correlate with defects. Linking recent bug fixes to specific modules identifies where the product is failing users.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76487" y="233928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01087" y="2339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Defining "Pain"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3575"/>
            <a:ext cx="3492549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33575"/>
            <a:ext cx="3492549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33575"/>
            <a:ext cx="3492549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66775" y="2228850"/>
            <a:ext cx="299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1. Effort Proxy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4" y="2943225"/>
            <a:ext cx="25073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Lizard (Python)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3590925"/>
            <a:ext cx="29019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Calculates NLOC (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Nr 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ines of 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ode) and CCN (Cyclomatic Complexity). Combines them to estimate the physical volume of work required to fix the debt.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4645076" y="2228850"/>
            <a:ext cx="299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2. Friction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645074" y="2943225"/>
            <a:ext cx="129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PyDriller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645074" y="3590925"/>
            <a:ext cx="29019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Mines the Git history to count Recent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ommits (last 6 months). Identifies which files are being touched most frequently by the team.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23375" y="2228850"/>
            <a:ext cx="29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472B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3. Unreliability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423374" y="2943225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Method: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HBFM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423374" y="3590925"/>
            <a:ext cx="2901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Heuristic-Based Fix-Mapping.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Scans commit messages for keywords (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"fix", "bug") to approximate where bugs are occurring without complex linking.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800100" y="571500"/>
            <a:ext cx="113614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MSR-Based Methodology </a:t>
            </a:r>
            <a:r>
              <a:rPr lang="en-US" sz="2000" b="0" i="0" u="none" strike="noStrike" cap="none" dirty="0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(Mining Software Repository)</a:t>
            </a:r>
            <a:endParaRPr sz="2000" dirty="0"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1514475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Analysis of the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repository revealed hidden risks. react-server had lower 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Effort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 react-reconciler, but significantly higher pain density.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604272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Despite requiring less effort to fix, 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react-server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caused 140.0 Pain Score vs 101.5, making it a priority target.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Case Study: Identifying Hotspots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008D3CDF-987B-9110-F693-2B5058CE08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5" t="3260" r="1"/>
          <a:stretch>
            <a:fillRect/>
          </a:stretch>
        </p:blipFill>
        <p:spPr>
          <a:xfrm>
            <a:off x="2182223" y="2647950"/>
            <a:ext cx="7827553" cy="3081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633912"/>
            <a:ext cx="523875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4284743"/>
            <a:ext cx="52387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0.5</a:t>
            </a:r>
            <a:endParaRPr sz="3000"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440532" y="479187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Pain Score</a:t>
            </a:r>
            <a:endParaRPr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571350" y="5155160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Module: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zxing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oned</a:t>
            </a:r>
            <a:endParaRPr dirty="0"/>
          </a:p>
        </p:txBody>
      </p:sp>
      <p:sp>
        <p:nvSpPr>
          <p:cNvPr id="198" name="Google Shape;198;p20"/>
          <p:cNvSpPr txBox="1"/>
          <p:nvPr/>
        </p:nvSpPr>
        <p:spPr>
          <a:xfrm>
            <a:off x="6381750" y="2157412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High Cost, Zero Impact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381750" y="2719387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zxing/oned module had a massive Effort score (7,187), which would flag it as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ritical in standard static analysis tools.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381750" y="38338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However, TDR-W analysis showed it had almost zero activity (0.5 Pain Score).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522508" y="4710112"/>
            <a:ext cx="499215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Decision: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Safely Ignore. Refactoring this would waste resources with no </a:t>
            </a:r>
            <a:r>
              <a:rPr lang="en-US" sz="1500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benefit</a:t>
            </a:r>
            <a:r>
              <a:rPr lang="en-US" sz="1500" b="0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5520" y="48053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Case Study: Ignoring Benign Debt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ine 4" descr="O imagine care conține text, Font, captură de ecran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C732E42E-6665-0F3B-4D52-B630118B68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374"/>
          <a:stretch>
            <a:fillRect/>
          </a:stretch>
        </p:blipFill>
        <p:spPr>
          <a:xfrm>
            <a:off x="702469" y="2264462"/>
            <a:ext cx="5238750" cy="1555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25441"/>
            <a:ext cx="5238750" cy="1356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3225" y="1757362"/>
            <a:ext cx="486727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53225" y="5767387"/>
            <a:ext cx="48672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1766887"/>
            <a:ext cx="2405062" cy="192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05912" y="1766887"/>
            <a:ext cx="2405062" cy="192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0" y="3733800"/>
            <a:ext cx="2405062" cy="192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05912" y="3733800"/>
            <a:ext cx="2405062" cy="192881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/>
        </p:nvSpPr>
        <p:spPr>
          <a:xfrm>
            <a:off x="571500" y="1890861"/>
            <a:ext cx="5238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plotting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TDR Score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against Business Value, teams can make objective decisions.</a:t>
            </a:r>
            <a:endParaRPr/>
          </a:p>
        </p:txBody>
      </p:sp>
      <p:sp>
        <p:nvSpPr>
          <p:cNvPr id="293" name="Google Shape;293;p33"/>
          <p:cNvSpPr txBox="1"/>
          <p:nvPr/>
        </p:nvSpPr>
        <p:spPr>
          <a:xfrm>
            <a:off x="5911538" y="5161100"/>
            <a:ext cx="626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Low Business value</a:t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6638925" y="1757362"/>
            <a:ext cx="19200" cy="39147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 txBox="1"/>
          <p:nvPr/>
        </p:nvSpPr>
        <p:spPr>
          <a:xfrm>
            <a:off x="847725" y="2610891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952500" y="2610891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Strategic Core: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 Value code that is clean. Keep it that way.</a:t>
            </a:r>
            <a:endParaRPr/>
          </a:p>
        </p:txBody>
      </p:sp>
      <p:sp>
        <p:nvSpPr>
          <p:cNvPr id="297" name="Google Shape;297;p33"/>
          <p:cNvSpPr txBox="1"/>
          <p:nvPr/>
        </p:nvSpPr>
        <p:spPr>
          <a:xfrm>
            <a:off x="847725" y="3372891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8" name="Google Shape;298;p33"/>
          <p:cNvSpPr txBox="1"/>
          <p:nvPr/>
        </p:nvSpPr>
        <p:spPr>
          <a:xfrm>
            <a:off x="952500" y="3372891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Critical Fix: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 Value code that is actively causing pain. Fix immediately.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847725" y="4134891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33"/>
          <p:cNvSpPr txBox="1"/>
          <p:nvPr/>
        </p:nvSpPr>
        <p:spPr>
          <a:xfrm>
            <a:off x="952500" y="4134891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Benign: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 Value, Low Risk. Ignore.</a:t>
            </a:r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800100" y="4915941"/>
            <a:ext cx="48198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Boundary Discussion: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Items sitting 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close to 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axis lines are discussion candidates. A module that is not quite urgent but almost critical might be worth a proactive fix to prevent a future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issue</a:t>
            </a:r>
            <a:endParaRPr i="1"/>
          </a:p>
        </p:txBody>
      </p:sp>
      <p:sp>
        <p:nvSpPr>
          <p:cNvPr id="302" name="Google Shape;302;p33"/>
          <p:cNvSpPr txBox="1"/>
          <p:nvPr/>
        </p:nvSpPr>
        <p:spPr>
          <a:xfrm>
            <a:off x="6753225" y="5881687"/>
            <a:ext cx="705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Low TDR</a:t>
            </a:r>
            <a:endParaRPr/>
          </a:p>
        </p:txBody>
      </p:sp>
      <p:sp>
        <p:nvSpPr>
          <p:cNvPr id="303" name="Google Shape;303;p33"/>
          <p:cNvSpPr txBox="1"/>
          <p:nvPr/>
        </p:nvSpPr>
        <p:spPr>
          <a:xfrm>
            <a:off x="7996237" y="5881687"/>
            <a:ext cx="2333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Technical Debt Risk (TDR)</a:t>
            </a:r>
            <a:endParaRPr/>
          </a:p>
        </p:txBody>
      </p:sp>
      <p:sp>
        <p:nvSpPr>
          <p:cNvPr id="304" name="Google Shape;304;p33"/>
          <p:cNvSpPr txBox="1"/>
          <p:nvPr/>
        </p:nvSpPr>
        <p:spPr>
          <a:xfrm>
            <a:off x="10868025" y="5881687"/>
            <a:ext cx="75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TDR</a:t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7255192" y="2546598"/>
            <a:ext cx="142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Strategic Core</a:t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7255668" y="2822823"/>
            <a:ext cx="14193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Quality code, not much to fix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9873376" y="2546598"/>
            <a:ext cx="107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Critical Fix</a:t>
            </a:r>
            <a:endParaRPr/>
          </a:p>
        </p:txBody>
      </p:sp>
      <p:sp>
        <p:nvSpPr>
          <p:cNvPr id="308" name="Google Shape;308;p33"/>
          <p:cNvSpPr txBox="1"/>
          <p:nvPr/>
        </p:nvSpPr>
        <p:spPr>
          <a:xfrm>
            <a:off x="9660731" y="2822823"/>
            <a:ext cx="14955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Immediate Action</a:t>
            </a:r>
            <a:endParaRPr/>
          </a:p>
        </p:txBody>
      </p:sp>
      <p:sp>
        <p:nvSpPr>
          <p:cNvPr id="309" name="Google Shape;309;p33"/>
          <p:cNvSpPr txBox="1"/>
          <p:nvPr/>
        </p:nvSpPr>
        <p:spPr>
          <a:xfrm>
            <a:off x="7360205" y="4513510"/>
            <a:ext cx="121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Benign Debt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7503318" y="4789735"/>
            <a:ext cx="924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Safe to ignore</a:t>
            </a:r>
            <a:endParaRPr/>
          </a:p>
        </p:txBody>
      </p:sp>
      <p:sp>
        <p:nvSpPr>
          <p:cNvPr id="311" name="Google Shape;311;p33"/>
          <p:cNvSpPr txBox="1"/>
          <p:nvPr/>
        </p:nvSpPr>
        <p:spPr>
          <a:xfrm>
            <a:off x="9753361" y="4513510"/>
            <a:ext cx="131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Containment</a:t>
            </a:r>
            <a:endParaRPr/>
          </a:p>
        </p:txBody>
      </p:sp>
      <p:sp>
        <p:nvSpPr>
          <p:cNvPr id="312" name="Google Shape;312;p33"/>
          <p:cNvSpPr txBox="1"/>
          <p:nvPr/>
        </p:nvSpPr>
        <p:spPr>
          <a:xfrm>
            <a:off x="9627393" y="4789735"/>
            <a:ext cx="15621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Refactor only if touching</a:t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Implications: The Prioritization Matrix</a:t>
            </a:r>
            <a:endParaRPr/>
          </a:p>
        </p:txBody>
      </p:sp>
      <p:sp>
        <p:nvSpPr>
          <p:cNvPr id="314" name="Google Shape;314;p33"/>
          <p:cNvSpPr/>
          <p:nvPr/>
        </p:nvSpPr>
        <p:spPr>
          <a:xfrm>
            <a:off x="571500" y="571500"/>
            <a:ext cx="57300" cy="561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9129712" y="3657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5973438" y="1766875"/>
            <a:ext cx="626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Business value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295275" y="74101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2286000" y="1712565"/>
            <a:ext cx="76200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TDR-W framework moves Technical Debt management from 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theoretical model </a:t>
            </a: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</a:t>
            </a:r>
            <a:r>
              <a:rPr lang="en-US" sz="2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practical framework</a:t>
            </a: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565963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Thank you.</a:t>
            </a:r>
            <a:endParaRPr/>
          </a:p>
        </p:txBody>
      </p:sp>
      <p:pic>
        <p:nvPicPr>
          <p:cNvPr id="240" name="Google Shape;24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7137" y="384988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3038475" y="4440435"/>
            <a:ext cx="1724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Identifies Hotspots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1687" y="384988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143500" y="4440435"/>
            <a:ext cx="1743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Filters Benign Debt</a:t>
            </a:r>
            <a:endParaRPr/>
          </a:p>
        </p:txBody>
      </p:sp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7200" y="384988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7267575" y="4440435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Aligns with Business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663</Words>
  <Application>Microsoft Office PowerPoint</Application>
  <PresentationFormat>Ecran lat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5" baseType="lpstr">
      <vt:lpstr>Inter</vt:lpstr>
      <vt:lpstr>Inter ExtraBold</vt:lpstr>
      <vt:lpstr>Calibri</vt:lpstr>
      <vt:lpstr>Arial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MIHAI-CONSTANTIN BAN</cp:lastModifiedBy>
  <cp:revision>18</cp:revision>
  <dcterms:modified xsi:type="dcterms:W3CDTF">2026-01-13T20:19:28Z</dcterms:modified>
</cp:coreProperties>
</file>